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8" r:id="rId3"/>
    <p:sldId id="260" r:id="rId4"/>
    <p:sldId id="263" r:id="rId5"/>
    <p:sldId id="262" r:id="rId6"/>
    <p:sldId id="268" r:id="rId7"/>
    <p:sldId id="267" r:id="rId8"/>
    <p:sldId id="269" r:id="rId9"/>
    <p:sldId id="270" r:id="rId10"/>
    <p:sldId id="271" r:id="rId11"/>
    <p:sldId id="280" r:id="rId12"/>
    <p:sldId id="281" r:id="rId13"/>
    <p:sldId id="282" r:id="rId14"/>
    <p:sldId id="283" r:id="rId15"/>
    <p:sldId id="284" r:id="rId16"/>
    <p:sldId id="276" r:id="rId17"/>
    <p:sldId id="279" r:id="rId18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9B9BCDEE-3B74-45E6-8AE0-88551EE6E288}">
          <p14:sldIdLst>
            <p14:sldId id="259"/>
            <p14:sldId id="258"/>
            <p14:sldId id="260"/>
            <p14:sldId id="263"/>
            <p14:sldId id="262"/>
            <p14:sldId id="268"/>
            <p14:sldId id="267"/>
            <p14:sldId id="269"/>
            <p14:sldId id="270"/>
            <p14:sldId id="271"/>
            <p14:sldId id="280"/>
            <p14:sldId id="281"/>
            <p14:sldId id="282"/>
            <p14:sldId id="283"/>
            <p14:sldId id="284"/>
            <p14:sldId id="276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4" Type="http://schemas.openxmlformats.org/officeDocument/2006/relationships/image" Target="../media/image1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6_2">
  <dgm:title val=""/>
  <dgm:desc val=""/>
  <dgm:catLst>
    <dgm:cat type="accent6" pri="16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830794C-E364-4B90-93E7-C5128B58872F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6_2" csCatId="accent6" phldr="1"/>
      <dgm:spPr/>
      <dgm:t>
        <a:bodyPr/>
        <a:lstStyle/>
        <a:p>
          <a:endParaRPr lang="en-US"/>
        </a:p>
      </dgm:t>
    </dgm:pt>
    <dgm:pt modelId="{81CF7EE6-DB43-4A2E-8622-E51BC5644207}">
      <dgm:prSet custT="1"/>
      <dgm:spPr/>
      <dgm:t>
        <a:bodyPr/>
        <a:lstStyle/>
        <a:p>
          <a:pPr algn="ctr">
            <a:lnSpc>
              <a:spcPct val="100000"/>
            </a:lnSpc>
            <a:defRPr b="1"/>
          </a:pPr>
          <a:r>
            <a:rPr lang="es-419" sz="2400" b="0" noProof="0" dirty="0">
              <a:latin typeface="Segoe UI" panose="020B0502040204020203" pitchFamily="34" charset="0"/>
              <a:cs typeface="Segoe UI" panose="020B0502040204020203" pitchFamily="34" charset="0"/>
            </a:rPr>
            <a:t>¿Qué periodos utilizamos?</a:t>
          </a:r>
        </a:p>
      </dgm:t>
    </dgm:pt>
    <dgm:pt modelId="{57AACBDD-5312-4676-9457-E118DCCED7F3}" type="parTrans" cxnId="{23BAEC10-12BF-46CA-A87A-E213729379FE}">
      <dgm:prSet/>
      <dgm:spPr/>
      <dgm:t>
        <a:bodyPr/>
        <a:lstStyle/>
        <a:p>
          <a:endParaRPr lang="en-US"/>
        </a:p>
      </dgm:t>
    </dgm:pt>
    <dgm:pt modelId="{A60D6534-A7B8-406B-B02E-F8C6E4CFFE85}" type="sibTrans" cxnId="{23BAEC10-12BF-46CA-A87A-E213729379FE}">
      <dgm:prSet/>
      <dgm:spPr/>
      <dgm:t>
        <a:bodyPr/>
        <a:lstStyle/>
        <a:p>
          <a:endParaRPr lang="en-US"/>
        </a:p>
      </dgm:t>
    </dgm:pt>
    <dgm:pt modelId="{8B087C1F-A737-4C3F-B66D-5059760E9C84}">
      <dgm:prSet/>
      <dgm:spPr/>
      <dgm:t>
        <a:bodyPr/>
        <a:lstStyle/>
        <a:p>
          <a:pPr algn="ctr">
            <a:lnSpc>
              <a:spcPct val="100000"/>
            </a:lnSpc>
            <a:defRPr b="1"/>
          </a:pPr>
          <a:r>
            <a:rPr lang="es-419" b="0" noProof="0" dirty="0">
              <a:latin typeface="Segoe UI" panose="020B0502040204020203" pitchFamily="34" charset="0"/>
              <a:cs typeface="Segoe UI" panose="020B0502040204020203" pitchFamily="34" charset="0"/>
            </a:rPr>
            <a:t>Fuente de los datos</a:t>
          </a:r>
        </a:p>
      </dgm:t>
    </dgm:pt>
    <dgm:pt modelId="{F334BB9C-3BD6-4DCF-8A45-E998214D7E42}" type="parTrans" cxnId="{FDC3A4C7-49C9-42D3-8C76-13271E6431A4}">
      <dgm:prSet/>
      <dgm:spPr/>
      <dgm:t>
        <a:bodyPr/>
        <a:lstStyle/>
        <a:p>
          <a:endParaRPr lang="en-US"/>
        </a:p>
      </dgm:t>
    </dgm:pt>
    <dgm:pt modelId="{A125C0AF-C80C-4173-A42B-F7A03FBC769A}" type="sibTrans" cxnId="{FDC3A4C7-49C9-42D3-8C76-13271E6431A4}">
      <dgm:prSet/>
      <dgm:spPr/>
      <dgm:t>
        <a:bodyPr/>
        <a:lstStyle/>
        <a:p>
          <a:endParaRPr lang="en-US"/>
        </a:p>
      </dgm:t>
    </dgm:pt>
    <dgm:pt modelId="{8A0A0CE3-0B74-46EF-B28C-B57368AF86D7}" type="pres">
      <dgm:prSet presAssocID="{6830794C-E364-4B90-93E7-C5128B58872F}" presName="root" presStyleCnt="0">
        <dgm:presLayoutVars>
          <dgm:dir/>
          <dgm:resizeHandles val="exact"/>
        </dgm:presLayoutVars>
      </dgm:prSet>
      <dgm:spPr/>
    </dgm:pt>
    <dgm:pt modelId="{62FE58BF-6F0A-464C-9968-F0D7BD028BB0}" type="pres">
      <dgm:prSet presAssocID="{81CF7EE6-DB43-4A2E-8622-E51BC5644207}" presName="compNode" presStyleCnt="0"/>
      <dgm:spPr/>
    </dgm:pt>
    <dgm:pt modelId="{9A534F46-6203-4C7E-A026-0D631971EEA9}" type="pres">
      <dgm:prSet presAssocID="{81CF7EE6-DB43-4A2E-8622-E51BC5644207}" presName="iconRect" presStyleLbl="node1" presStyleIdx="0" presStyleCnt="2" custLinFactNeighborX="94253" custLinFactNeighborY="-85479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ip Calendar"/>
        </a:ext>
      </dgm:extLst>
    </dgm:pt>
    <dgm:pt modelId="{16C3F26A-6B83-4C8E-9ED8-5D04C2F3A46C}" type="pres">
      <dgm:prSet presAssocID="{81CF7EE6-DB43-4A2E-8622-E51BC5644207}" presName="iconSpace" presStyleCnt="0"/>
      <dgm:spPr/>
    </dgm:pt>
    <dgm:pt modelId="{890DA4DB-DCDC-4F79-B456-883C1E8D2864}" type="pres">
      <dgm:prSet presAssocID="{81CF7EE6-DB43-4A2E-8622-E51BC5644207}" presName="parTx" presStyleLbl="revTx" presStyleIdx="0" presStyleCnt="4" custLinFactY="-15803" custLinFactNeighborX="-145" custLinFactNeighborY="-100000">
        <dgm:presLayoutVars>
          <dgm:chMax val="0"/>
          <dgm:chPref val="0"/>
        </dgm:presLayoutVars>
      </dgm:prSet>
      <dgm:spPr/>
    </dgm:pt>
    <dgm:pt modelId="{4A27653B-5B43-4186-A534-474F871D9220}" type="pres">
      <dgm:prSet presAssocID="{81CF7EE6-DB43-4A2E-8622-E51BC5644207}" presName="txSpace" presStyleCnt="0"/>
      <dgm:spPr/>
    </dgm:pt>
    <dgm:pt modelId="{2A368C3E-217F-4EFD-86FF-90482B5C1F47}" type="pres">
      <dgm:prSet presAssocID="{81CF7EE6-DB43-4A2E-8622-E51BC5644207}" presName="desTx" presStyleLbl="revTx" presStyleIdx="1" presStyleCnt="4" custScaleX="90583" custLinFactY="-90232" custLinFactNeighborX="7560" custLinFactNeighborY="-100000">
        <dgm:presLayoutVars/>
      </dgm:prSet>
      <dgm:spPr/>
    </dgm:pt>
    <dgm:pt modelId="{B52643B2-C054-47D4-BC2F-1930841BDEE9}" type="pres">
      <dgm:prSet presAssocID="{A60D6534-A7B8-406B-B02E-F8C6E4CFFE85}" presName="sibTrans" presStyleCnt="0"/>
      <dgm:spPr/>
    </dgm:pt>
    <dgm:pt modelId="{D7510D83-D934-47FA-B609-492778A13FAA}" type="pres">
      <dgm:prSet presAssocID="{8B087C1F-A737-4C3F-B66D-5059760E9C84}" presName="compNode" presStyleCnt="0"/>
      <dgm:spPr/>
    </dgm:pt>
    <dgm:pt modelId="{CB7E68BD-9879-46C4-9A9D-A7ECD0B721C6}" type="pres">
      <dgm:prSet presAssocID="{8B087C1F-A737-4C3F-B66D-5059760E9C84}" presName="iconRect" presStyleLbl="node1" presStyleIdx="1" presStyleCnt="2" custLinFactNeighborX="72427" custLinFactNeighborY="-8040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 de datos con relleno sólido"/>
        </a:ext>
      </dgm:extLst>
    </dgm:pt>
    <dgm:pt modelId="{BFF951D4-0D7B-471F-AF37-262B4B46503F}" type="pres">
      <dgm:prSet presAssocID="{8B087C1F-A737-4C3F-B66D-5059760E9C84}" presName="iconSpace" presStyleCnt="0"/>
      <dgm:spPr/>
    </dgm:pt>
    <dgm:pt modelId="{889E7207-21E4-4D3C-9C7D-9A35DFCC9454}" type="pres">
      <dgm:prSet presAssocID="{8B087C1F-A737-4C3F-B66D-5059760E9C84}" presName="parTx" presStyleLbl="revTx" presStyleIdx="2" presStyleCnt="4" custLinFactY="-6529" custLinFactNeighborX="-5164" custLinFactNeighborY="-100000">
        <dgm:presLayoutVars>
          <dgm:chMax val="0"/>
          <dgm:chPref val="0"/>
        </dgm:presLayoutVars>
      </dgm:prSet>
      <dgm:spPr/>
    </dgm:pt>
    <dgm:pt modelId="{4D85405F-6C99-4004-97BC-5256027E8586}" type="pres">
      <dgm:prSet presAssocID="{8B087C1F-A737-4C3F-B66D-5059760E9C84}" presName="txSpace" presStyleCnt="0"/>
      <dgm:spPr/>
    </dgm:pt>
    <dgm:pt modelId="{163F3F3C-BF07-48C6-BDA0-B85C6EB9211D}" type="pres">
      <dgm:prSet presAssocID="{8B087C1F-A737-4C3F-B66D-5059760E9C84}" presName="desTx" presStyleLbl="revTx" presStyleIdx="3" presStyleCnt="4" custScaleX="47066" custLinFactY="-55376" custLinFactNeighborX="38734" custLinFactNeighborY="-100000">
        <dgm:presLayoutVars/>
      </dgm:prSet>
      <dgm:spPr/>
    </dgm:pt>
  </dgm:ptLst>
  <dgm:cxnLst>
    <dgm:cxn modelId="{C92C6E05-3D9E-4A61-9107-BB14DB9691EE}" type="presOf" srcId="{8B087C1F-A737-4C3F-B66D-5059760E9C84}" destId="{889E7207-21E4-4D3C-9C7D-9A35DFCC9454}" srcOrd="0" destOrd="0" presId="urn:microsoft.com/office/officeart/2018/2/layout/IconLabelDescriptionList"/>
    <dgm:cxn modelId="{23BAEC10-12BF-46CA-A87A-E213729379FE}" srcId="{6830794C-E364-4B90-93E7-C5128B58872F}" destId="{81CF7EE6-DB43-4A2E-8622-E51BC5644207}" srcOrd="0" destOrd="0" parTransId="{57AACBDD-5312-4676-9457-E118DCCED7F3}" sibTransId="{A60D6534-A7B8-406B-B02E-F8C6E4CFFE85}"/>
    <dgm:cxn modelId="{AFF0DE2F-0891-4920-B212-A495159E691A}" type="presOf" srcId="{6830794C-E364-4B90-93E7-C5128B58872F}" destId="{8A0A0CE3-0B74-46EF-B28C-B57368AF86D7}" srcOrd="0" destOrd="0" presId="urn:microsoft.com/office/officeart/2018/2/layout/IconLabelDescriptionList"/>
    <dgm:cxn modelId="{6BE5F85F-C313-4DC6-8FEA-1D4F775D2884}" type="presOf" srcId="{81CF7EE6-DB43-4A2E-8622-E51BC5644207}" destId="{890DA4DB-DCDC-4F79-B456-883C1E8D2864}" srcOrd="0" destOrd="0" presId="urn:microsoft.com/office/officeart/2018/2/layout/IconLabelDescriptionList"/>
    <dgm:cxn modelId="{FDC3A4C7-49C9-42D3-8C76-13271E6431A4}" srcId="{6830794C-E364-4B90-93E7-C5128B58872F}" destId="{8B087C1F-A737-4C3F-B66D-5059760E9C84}" srcOrd="1" destOrd="0" parTransId="{F334BB9C-3BD6-4DCF-8A45-E998214D7E42}" sibTransId="{A125C0AF-C80C-4173-A42B-F7A03FBC769A}"/>
    <dgm:cxn modelId="{0845D1CD-3B1D-4510-BE01-84A951E63774}" type="presParOf" srcId="{8A0A0CE3-0B74-46EF-B28C-B57368AF86D7}" destId="{62FE58BF-6F0A-464C-9968-F0D7BD028BB0}" srcOrd="0" destOrd="0" presId="urn:microsoft.com/office/officeart/2018/2/layout/IconLabelDescriptionList"/>
    <dgm:cxn modelId="{E5836C64-D669-4794-8DBE-55D99136D6BF}" type="presParOf" srcId="{62FE58BF-6F0A-464C-9968-F0D7BD028BB0}" destId="{9A534F46-6203-4C7E-A026-0D631971EEA9}" srcOrd="0" destOrd="0" presId="urn:microsoft.com/office/officeart/2018/2/layout/IconLabelDescriptionList"/>
    <dgm:cxn modelId="{ADF3BB2A-8D83-4866-915E-E92198C74C0E}" type="presParOf" srcId="{62FE58BF-6F0A-464C-9968-F0D7BD028BB0}" destId="{16C3F26A-6B83-4C8E-9ED8-5D04C2F3A46C}" srcOrd="1" destOrd="0" presId="urn:microsoft.com/office/officeart/2018/2/layout/IconLabelDescriptionList"/>
    <dgm:cxn modelId="{C1F20DFA-A59D-4508-92FB-93B012C13017}" type="presParOf" srcId="{62FE58BF-6F0A-464C-9968-F0D7BD028BB0}" destId="{890DA4DB-DCDC-4F79-B456-883C1E8D2864}" srcOrd="2" destOrd="0" presId="urn:microsoft.com/office/officeart/2018/2/layout/IconLabelDescriptionList"/>
    <dgm:cxn modelId="{3C61E556-D449-42CB-8B04-6F49594E25A6}" type="presParOf" srcId="{62FE58BF-6F0A-464C-9968-F0D7BD028BB0}" destId="{4A27653B-5B43-4186-A534-474F871D9220}" srcOrd="3" destOrd="0" presId="urn:microsoft.com/office/officeart/2018/2/layout/IconLabelDescriptionList"/>
    <dgm:cxn modelId="{7203D4F1-00D0-441C-89A5-8D2E48E87926}" type="presParOf" srcId="{62FE58BF-6F0A-464C-9968-F0D7BD028BB0}" destId="{2A368C3E-217F-4EFD-86FF-90482B5C1F47}" srcOrd="4" destOrd="0" presId="urn:microsoft.com/office/officeart/2018/2/layout/IconLabelDescriptionList"/>
    <dgm:cxn modelId="{A47939E9-9B90-4897-A707-8A561C517D5A}" type="presParOf" srcId="{8A0A0CE3-0B74-46EF-B28C-B57368AF86D7}" destId="{B52643B2-C054-47D4-BC2F-1930841BDEE9}" srcOrd="1" destOrd="0" presId="urn:microsoft.com/office/officeart/2018/2/layout/IconLabelDescriptionList"/>
    <dgm:cxn modelId="{2B102215-0E46-4FC9-A742-77146AD162E0}" type="presParOf" srcId="{8A0A0CE3-0B74-46EF-B28C-B57368AF86D7}" destId="{D7510D83-D934-47FA-B609-492778A13FAA}" srcOrd="2" destOrd="0" presId="urn:microsoft.com/office/officeart/2018/2/layout/IconLabelDescriptionList"/>
    <dgm:cxn modelId="{4FA44CBE-FEE2-4BFC-90F9-9A86D2C3374B}" type="presParOf" srcId="{D7510D83-D934-47FA-B609-492778A13FAA}" destId="{CB7E68BD-9879-46C4-9A9D-A7ECD0B721C6}" srcOrd="0" destOrd="0" presId="urn:microsoft.com/office/officeart/2018/2/layout/IconLabelDescriptionList"/>
    <dgm:cxn modelId="{C0DFDD1F-9A65-4CD7-AF97-F8EF41B80793}" type="presParOf" srcId="{D7510D83-D934-47FA-B609-492778A13FAA}" destId="{BFF951D4-0D7B-471F-AF37-262B4B46503F}" srcOrd="1" destOrd="0" presId="urn:microsoft.com/office/officeart/2018/2/layout/IconLabelDescriptionList"/>
    <dgm:cxn modelId="{A1C92B41-4668-4599-AEE9-D44D9BBC7167}" type="presParOf" srcId="{D7510D83-D934-47FA-B609-492778A13FAA}" destId="{889E7207-21E4-4D3C-9C7D-9A35DFCC9454}" srcOrd="2" destOrd="0" presId="urn:microsoft.com/office/officeart/2018/2/layout/IconLabelDescriptionList"/>
    <dgm:cxn modelId="{81EDA630-F37B-4141-AD6E-759607A1B43B}" type="presParOf" srcId="{D7510D83-D934-47FA-B609-492778A13FAA}" destId="{4D85405F-6C99-4004-97BC-5256027E8586}" srcOrd="3" destOrd="0" presId="urn:microsoft.com/office/officeart/2018/2/layout/IconLabelDescriptionList"/>
    <dgm:cxn modelId="{3432AB7E-6FAF-492E-9257-0E4BBCAA17AF}" type="presParOf" srcId="{D7510D83-D934-47FA-B609-492778A13FAA}" destId="{163F3F3C-BF07-48C6-BDA0-B85C6EB9211D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534F46-6203-4C7E-A026-0D631971EEA9}">
      <dsp:nvSpPr>
        <dsp:cNvPr id="0" name=""/>
        <dsp:cNvSpPr/>
      </dsp:nvSpPr>
      <dsp:spPr>
        <a:xfrm>
          <a:off x="861089" y="289690"/>
          <a:ext cx="912515" cy="91251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0DA4DB-DCDC-4F79-B456-883C1E8D2864}">
      <dsp:nvSpPr>
        <dsp:cNvPr id="0" name=""/>
        <dsp:cNvSpPr/>
      </dsp:nvSpPr>
      <dsp:spPr>
        <a:xfrm>
          <a:off x="0" y="1099925"/>
          <a:ext cx="2607187" cy="8310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419" sz="2400" b="0" kern="1200" noProof="0" dirty="0">
              <a:latin typeface="Segoe UI" panose="020B0502040204020203" pitchFamily="34" charset="0"/>
              <a:cs typeface="Segoe UI" panose="020B0502040204020203" pitchFamily="34" charset="0"/>
            </a:rPr>
            <a:t>¿Qué periodos utilizamos?</a:t>
          </a:r>
        </a:p>
      </dsp:txBody>
      <dsp:txXfrm>
        <a:off x="0" y="1099925"/>
        <a:ext cx="2607187" cy="831041"/>
      </dsp:txXfrm>
    </dsp:sp>
    <dsp:sp modelId="{2A368C3E-217F-4EFD-86FF-90482B5C1F47}">
      <dsp:nvSpPr>
        <dsp:cNvPr id="0" name=""/>
        <dsp:cNvSpPr/>
      </dsp:nvSpPr>
      <dsp:spPr>
        <a:xfrm>
          <a:off x="290757" y="2927836"/>
          <a:ext cx="2139270" cy="14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7E68BD-9879-46C4-9A9D-A7ECD0B721C6}">
      <dsp:nvSpPr>
        <dsp:cNvPr id="0" name=""/>
        <dsp:cNvSpPr/>
      </dsp:nvSpPr>
      <dsp:spPr>
        <a:xfrm>
          <a:off x="3725369" y="336019"/>
          <a:ext cx="912515" cy="91251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9E7207-21E4-4D3C-9C7D-9A35DFCC9454}">
      <dsp:nvSpPr>
        <dsp:cNvPr id="0" name=""/>
        <dsp:cNvSpPr/>
      </dsp:nvSpPr>
      <dsp:spPr>
        <a:xfrm>
          <a:off x="2929826" y="1176995"/>
          <a:ext cx="2607187" cy="8310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419" sz="2400" b="0" kern="1200" noProof="0" dirty="0">
              <a:latin typeface="Segoe UI" panose="020B0502040204020203" pitchFamily="34" charset="0"/>
              <a:cs typeface="Segoe UI" panose="020B0502040204020203" pitchFamily="34" charset="0"/>
            </a:rPr>
            <a:t>Fuente de los datos</a:t>
          </a:r>
        </a:p>
      </dsp:txBody>
      <dsp:txXfrm>
        <a:off x="2929826" y="1176995"/>
        <a:ext cx="2607187" cy="831041"/>
      </dsp:txXfrm>
    </dsp:sp>
    <dsp:sp modelId="{163F3F3C-BF07-48C6-BDA0-B85C6EB9211D}">
      <dsp:nvSpPr>
        <dsp:cNvPr id="0" name=""/>
        <dsp:cNvSpPr/>
      </dsp:nvSpPr>
      <dsp:spPr>
        <a:xfrm>
          <a:off x="4445567" y="2928339"/>
          <a:ext cx="1227098" cy="14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3C9C33-6732-BF25-AE26-F7D6D817F8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2A85D56-DB77-AC55-FFA4-4D57CA8DCD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A0D500-AE2E-BEE6-75A3-6709B0F3B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8DC5-BE43-478A-B9B7-9551E4EF1DB7}" type="datetimeFigureOut">
              <a:rPr lang="es-AR" smtClean="0"/>
              <a:t>2/12/2025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32AA3BF-CC01-9617-0284-C58EAC167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C0F8137-08B1-FF07-63C7-50C84DDD2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A510C-13D2-4D62-8327-30AF1254D69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38155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1F4588-1189-A06C-0438-E1D3CF372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B0E3C5-4F16-935E-E0E8-02E4163C3F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0DBA52B-0A7A-BC1A-2320-22962415B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8DC5-BE43-478A-B9B7-9551E4EF1DB7}" type="datetimeFigureOut">
              <a:rPr lang="es-AR" smtClean="0"/>
              <a:t>2/12/2025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B57DF62-1938-FB54-4EFA-6D61C62EC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CF8984C-B6DE-5AE7-A72E-4BE3C1A19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A510C-13D2-4D62-8327-30AF1254D69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73184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9FC821-79D5-77D7-193C-8A467CDF4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D1273E9-D483-48FF-CFDF-4FF26191F1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58AB85B-7BCE-3748-4FDC-4D1C2A01F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8DC5-BE43-478A-B9B7-9551E4EF1DB7}" type="datetimeFigureOut">
              <a:rPr lang="es-AR" smtClean="0"/>
              <a:t>2/12/2025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A8CC500-14D1-9660-4A06-95E2ABAD9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1888585-62EA-85B6-7068-F5199DCCF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A510C-13D2-4D62-8327-30AF1254D69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55717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5AF858-E88C-4BED-3813-2F9CEF6ED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D03ACB-63A3-2E0E-D201-6791D5C2A6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ED43737-07A7-C63F-A907-2269C4E29B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6192C66-7D31-B604-898A-F57B7B3F2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8DC5-BE43-478A-B9B7-9551E4EF1DB7}" type="datetimeFigureOut">
              <a:rPr lang="es-AR" smtClean="0"/>
              <a:t>2/12/2025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83C23E6-847B-5C79-D6D2-C5F83723D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A4BFAD1-59FB-1E92-1034-7DD452DCC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A510C-13D2-4D62-8327-30AF1254D69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65548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31A4BA-8497-9F40-C925-600E13B46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5C8BAF5-5AB5-1EA7-6AD5-AA0A5870CD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08F1863-45BA-A769-0078-5B81E02DFF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CC65E38-BC14-8D0F-F676-346D85915A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4030F28-26B2-2507-39B4-162738E915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6357FF5-6764-5D7A-598D-713595604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8DC5-BE43-478A-B9B7-9551E4EF1DB7}" type="datetimeFigureOut">
              <a:rPr lang="es-AR" smtClean="0"/>
              <a:t>2/12/2025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7C1F97C-EC3F-E360-C048-6FACE3F01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91C75F5-68C0-7F8E-4BC2-6FDF97199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A510C-13D2-4D62-8327-30AF1254D69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77829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2F2F98-830C-A0B9-3B84-BF3059975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BF3BB1F-5CC8-B9BB-1C0A-740D1CEDD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8DC5-BE43-478A-B9B7-9551E4EF1DB7}" type="datetimeFigureOut">
              <a:rPr lang="es-AR" smtClean="0"/>
              <a:t>2/12/2025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0457B7C-C1F9-1EDC-5951-43F133F54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6F8DCF8-B1B3-3833-A95B-6C35CC1FD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A510C-13D2-4D62-8327-30AF1254D69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8324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0C82194-0D38-F54C-5DFF-1BE7CFF53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8DC5-BE43-478A-B9B7-9551E4EF1DB7}" type="datetimeFigureOut">
              <a:rPr lang="es-AR" smtClean="0"/>
              <a:t>2/12/2025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FB6EB49-CB37-B81B-28A5-3273EDCC3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5C84559-F974-1129-2424-F510EDC25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A510C-13D2-4D62-8327-30AF1254D69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80370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DD5164-03F9-98B3-6246-39EC636CA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9EBFE7C-F2A7-33FB-A631-244091B06C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0F662AE-7474-9915-6C95-B9569D466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D458AC2-361F-AE1C-8741-1AC296437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8DC5-BE43-478A-B9B7-9551E4EF1DB7}" type="datetimeFigureOut">
              <a:rPr lang="es-AR" smtClean="0"/>
              <a:t>2/12/2025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FD4F34C-DEA0-D1AC-C23C-439DDD85F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6DA4629-546D-DD37-26C4-40E971DB9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A510C-13D2-4D62-8327-30AF1254D69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18889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395A42-B6BF-9071-AE71-43918CE9B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434C3F8-8AFD-A682-B743-EE48487991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464DFA8-BDEC-FCE2-E428-5CCA38E8C2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0AAB8E1-2394-0F52-DABC-64C39A52A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8DC5-BE43-478A-B9B7-9551E4EF1DB7}" type="datetimeFigureOut">
              <a:rPr lang="es-AR" smtClean="0"/>
              <a:t>2/12/2025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5F379BF-A78B-304F-7BA1-662F939BD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8B1E98F-1030-937F-4670-AE1058663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A510C-13D2-4D62-8327-30AF1254D69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18383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106158-8A6B-7CDB-675C-5A39362FD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E82A385-D34B-1216-8D4B-5F311BE9B4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1426A6-9711-524C-66D3-8953F8847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8DC5-BE43-478A-B9B7-9551E4EF1DB7}" type="datetimeFigureOut">
              <a:rPr lang="es-AR" smtClean="0"/>
              <a:t>2/12/2025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FFBB265-5DC2-E7DD-D0ED-A73244746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3370030-C617-000F-2041-6AF0FDCFA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A510C-13D2-4D62-8327-30AF1254D69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9428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BF534A0-5E17-674F-CC9F-3C6D5144A5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329A33C-2B24-7D9E-AF90-237A0909B3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5F38900-DE3F-8B6D-60F2-B9A602580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8DC5-BE43-478A-B9B7-9551E4EF1DB7}" type="datetimeFigureOut">
              <a:rPr lang="es-AR" smtClean="0"/>
              <a:t>2/12/2025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C64A2-6A89-0865-A726-FE301F875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AF2000-DF86-ACCE-5DE6-2E36ACA9C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A510C-13D2-4D62-8327-30AF1254D69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44451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FBCE1E4-EC8E-B1E7-5636-5CE31DAE8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DC55B42-115F-B5D7-00F1-18246ECE94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9E71F7-132E-2B06-2DAC-BCB59AC39B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548DC5-BE43-478A-B9B7-9551E4EF1DB7}" type="datetimeFigureOut">
              <a:rPr lang="es-AR" smtClean="0"/>
              <a:t>2/12/2025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B89E0D-DB22-2945-2501-1DAAD2F7F7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64CADB-E203-53A7-1316-CB988BA7F0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0A510C-13D2-4D62-8327-30AF1254D69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30057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abloViera22/proyecto_tp_grupal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5EF17487-C386-4F99-B5EB-4FD3DF423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A0DE92DF-4769-4DE9-93FD-EE312718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s-419" noProof="0" dirty="0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0B71822-8B0D-E97A-2352-64CB290A33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7235" y="150880"/>
            <a:ext cx="5782563" cy="3747464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419" sz="4800" noProof="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Deuda Pública y Crecimiento Económico (2017-2023)</a:t>
            </a: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4B5E9000-D43F-239E-136D-417A620C9DFA}"/>
              </a:ext>
            </a:extLst>
          </p:cNvPr>
          <p:cNvSpPr txBox="1">
            <a:spLocks/>
          </p:cNvSpPr>
          <p:nvPr/>
        </p:nvSpPr>
        <p:spPr>
          <a:xfrm>
            <a:off x="643467" y="3641818"/>
            <a:ext cx="4772974" cy="22751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419" sz="2800" u="sng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s-419" sz="2800" noProof="0" dirty="0">
                <a:latin typeface="Segoe UI" panose="020B0502040204020203" pitchFamily="34" charset="0"/>
                <a:cs typeface="Segoe UI" panose="020B0502040204020203" pitchFamily="34" charset="0"/>
              </a:rPr>
              <a:t>Pablo D. Viera. </a:t>
            </a:r>
            <a:r>
              <a:rPr lang="es-419" sz="2800" noProof="0" dirty="0" err="1">
                <a:latin typeface="Segoe UI" panose="020B0502040204020203" pitchFamily="34" charset="0"/>
                <a:cs typeface="Segoe UI" panose="020B0502040204020203" pitchFamily="34" charset="0"/>
              </a:rPr>
              <a:t>N°</a:t>
            </a:r>
            <a:r>
              <a:rPr lang="es-419" sz="2800" noProof="0" dirty="0">
                <a:latin typeface="Segoe UI" panose="020B0502040204020203" pitchFamily="34" charset="0"/>
                <a:cs typeface="Segoe UI" panose="020B0502040204020203" pitchFamily="34" charset="0"/>
              </a:rPr>
              <a:t> 908702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s-419" sz="2800" noProof="0" dirty="0" err="1">
                <a:latin typeface="Segoe UI" panose="020B0502040204020203" pitchFamily="34" charset="0"/>
                <a:cs typeface="Segoe UI" panose="020B0502040204020203" pitchFamily="34" charset="0"/>
              </a:rPr>
              <a:t>Andric</a:t>
            </a:r>
            <a:r>
              <a:rPr lang="es-419" sz="2800" noProof="0" dirty="0">
                <a:latin typeface="Segoe UI" panose="020B0502040204020203" pitchFamily="34" charset="0"/>
                <a:cs typeface="Segoe UI" panose="020B0502040204020203" pitchFamily="34" charset="0"/>
              </a:rPr>
              <a:t> González. </a:t>
            </a:r>
            <a:r>
              <a:rPr lang="es-419" sz="2800" noProof="0" dirty="0" err="1">
                <a:latin typeface="Segoe UI" panose="020B0502040204020203" pitchFamily="34" charset="0"/>
                <a:cs typeface="Segoe UI" panose="020B0502040204020203" pitchFamily="34" charset="0"/>
              </a:rPr>
              <a:t>N°</a:t>
            </a:r>
            <a:r>
              <a:rPr lang="es-419" sz="2800" noProof="0" dirty="0">
                <a:latin typeface="Segoe UI" panose="020B0502040204020203" pitchFamily="34" charset="0"/>
                <a:cs typeface="Segoe UI" panose="020B0502040204020203" pitchFamily="34" charset="0"/>
              </a:rPr>
              <a:t> 896472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s-419" sz="2800" noProof="0" dirty="0">
                <a:latin typeface="Segoe UI" panose="020B0502040204020203" pitchFamily="34" charset="0"/>
                <a:cs typeface="Segoe UI" panose="020B0502040204020203" pitchFamily="34" charset="0"/>
              </a:rPr>
              <a:t>Geronimo Silva. </a:t>
            </a:r>
            <a:r>
              <a:rPr lang="es-419" sz="2800" noProof="0" dirty="0" err="1">
                <a:latin typeface="Segoe UI" panose="020B0502040204020203" pitchFamily="34" charset="0"/>
                <a:cs typeface="Segoe UI" panose="020B0502040204020203" pitchFamily="34" charset="0"/>
              </a:rPr>
              <a:t>N°</a:t>
            </a:r>
            <a:r>
              <a:rPr lang="es-419" sz="2800" noProof="0" dirty="0">
                <a:latin typeface="Segoe UI" panose="020B0502040204020203" pitchFamily="34" charset="0"/>
                <a:cs typeface="Segoe UI" panose="020B0502040204020203" pitchFamily="34" charset="0"/>
              </a:rPr>
              <a:t> 909724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s-419" sz="2000" noProof="0" dirty="0"/>
          </a:p>
        </p:txBody>
      </p:sp>
      <p:pic>
        <p:nvPicPr>
          <p:cNvPr id="5" name="Imagen 4" descr="Un dibujo de un animal&#10;&#10;El contenido generado por IA puede ser incorrecto.">
            <a:extLst>
              <a:ext uri="{FF2B5EF4-FFF2-40B4-BE49-F238E27FC236}">
                <a16:creationId xmlns:a16="http://schemas.microsoft.com/office/drawing/2014/main" id="{5E45936B-9F81-D798-C9EB-B8811E3509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31" b="3"/>
          <a:stretch>
            <a:fillRect/>
          </a:stretch>
        </p:blipFill>
        <p:spPr>
          <a:xfrm>
            <a:off x="7700211" y="720995"/>
            <a:ext cx="3848322" cy="2389951"/>
          </a:xfrm>
          <a:prstGeom prst="rect">
            <a:avLst/>
          </a:prstGeom>
        </p:spPr>
      </p:pic>
      <p:pic>
        <p:nvPicPr>
          <p:cNvPr id="4" name="Imagen 3" descr="Diagrama&#10;&#10;El contenido generado por IA puede ser incorrecto.">
            <a:extLst>
              <a:ext uri="{FF2B5EF4-FFF2-40B4-BE49-F238E27FC236}">
                <a16:creationId xmlns:a16="http://schemas.microsoft.com/office/drawing/2014/main" id="{F4F7E71E-FAA3-4AD6-8F02-C93BBE3F8E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1" r="6952" b="-2"/>
          <a:stretch>
            <a:fillRect/>
          </a:stretch>
        </p:blipFill>
        <p:spPr>
          <a:xfrm>
            <a:off x="7700211" y="3755392"/>
            <a:ext cx="3848322" cy="2389926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C8408FC0-80A1-A526-A97B-41F870C71C28}"/>
              </a:ext>
            </a:extLst>
          </p:cNvPr>
          <p:cNvSpPr txBox="1"/>
          <p:nvPr/>
        </p:nvSpPr>
        <p:spPr>
          <a:xfrm>
            <a:off x="1797551" y="3493782"/>
            <a:ext cx="24648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2800" u="sng" noProof="0" dirty="0">
                <a:latin typeface="Segoe UI" panose="020B0502040204020203" pitchFamily="34" charset="0"/>
                <a:cs typeface="Segoe UI" panose="020B0502040204020203" pitchFamily="34" charset="0"/>
              </a:rPr>
              <a:t>Integrantes</a:t>
            </a:r>
          </a:p>
        </p:txBody>
      </p:sp>
    </p:spTree>
    <p:extLst>
      <p:ext uri="{BB962C8B-B14F-4D97-AF65-F5344CB8AC3E}">
        <p14:creationId xmlns:p14="http://schemas.microsoft.com/office/powerpoint/2010/main" val="3934121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4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D794F788-1BFB-E2DC-FD00-ABA664335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s-419" sz="4000" noProof="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¿La deuda siempre es mala para el crecimiento?</a:t>
            </a:r>
          </a:p>
        </p:txBody>
      </p:sp>
      <p:sp>
        <p:nvSpPr>
          <p:cNvPr id="32" name="Rectangle 26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03F9140-4581-15D7-4E9E-F124356CB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422" y="2389218"/>
            <a:ext cx="4943557" cy="3837886"/>
          </a:xfrm>
        </p:spPr>
        <p:txBody>
          <a:bodyPr anchor="ctr">
            <a:normAutofit fontScale="47500" lnSpcReduction="20000"/>
          </a:bodyPr>
          <a:lstStyle/>
          <a:p>
            <a:pPr marL="0" indent="0" algn="ctr">
              <a:buNone/>
            </a:pPr>
            <a:r>
              <a:rPr lang="es-419" sz="5100" u="sng" noProof="0" dirty="0">
                <a:latin typeface="Segoe UI" panose="020B0502040204020203" pitchFamily="34" charset="0"/>
                <a:cs typeface="Segoe UI" panose="020B0502040204020203" pitchFamily="34" charset="0"/>
              </a:rPr>
              <a:t>¿Hay un tramo positivo y otro negativo?</a:t>
            </a:r>
          </a:p>
          <a:p>
            <a:pPr marL="0" indent="0" algn="ctr">
              <a:buNone/>
            </a:pPr>
            <a:endParaRPr lang="es-419" sz="5100" u="sng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/>
            <a:r>
              <a:rPr lang="es-419" sz="5100" noProof="0" dirty="0">
                <a:latin typeface="Segoe UI" panose="020B0502040204020203" pitchFamily="34" charset="0"/>
                <a:cs typeface="Segoe UI" panose="020B0502040204020203" pitchFamily="34" charset="0"/>
              </a:rPr>
              <a:t>El tramo positivo puede verse reflejado en financiamiento para la inversión, confianza, credibilidad y robustes fiscal.</a:t>
            </a:r>
          </a:p>
          <a:p>
            <a:pPr algn="just"/>
            <a:r>
              <a:rPr lang="es-419" sz="5100" noProof="0" dirty="0">
                <a:latin typeface="Segoe UI" panose="020B0502040204020203" pitchFamily="34" charset="0"/>
                <a:cs typeface="Segoe UI" panose="020B0502040204020203" pitchFamily="34" charset="0"/>
              </a:rPr>
              <a:t>El tramo negativo puede verse reflejado en riesgo de default, incapacidad de financiamiento o crisis de índole fiscal.</a:t>
            </a:r>
          </a:p>
          <a:p>
            <a:pPr marL="457200" lvl="1" indent="0">
              <a:buNone/>
            </a:pPr>
            <a:endParaRPr lang="es-419" sz="2000" noProof="0" dirty="0"/>
          </a:p>
        </p:txBody>
      </p:sp>
      <p:pic>
        <p:nvPicPr>
          <p:cNvPr id="9" name="Imagen 8" descr="Gráfico, Gráfico circular&#10;&#10;El contenido generado por IA puede ser incorrecto.">
            <a:extLst>
              <a:ext uri="{FF2B5EF4-FFF2-40B4-BE49-F238E27FC236}">
                <a16:creationId xmlns:a16="http://schemas.microsoft.com/office/drawing/2014/main" id="{9F2C16BE-64BD-1325-46E4-9601E3CED1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1532" y="2538780"/>
            <a:ext cx="5150277" cy="3605193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</p:spTree>
    <p:extLst>
      <p:ext uri="{BB962C8B-B14F-4D97-AF65-F5344CB8AC3E}">
        <p14:creationId xmlns:p14="http://schemas.microsoft.com/office/powerpoint/2010/main" val="2616462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C5E1126-BA9E-471B-3690-EF72BAE5F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s-419" sz="4000" noProof="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Hipótesis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D9331A-C6A8-C27E-C366-FE4131A49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3631" y="5811909"/>
            <a:ext cx="9941319" cy="472385"/>
          </a:xfrm>
        </p:spPr>
        <p:txBody>
          <a:bodyPr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s-419" sz="2400" noProof="0" dirty="0">
                <a:latin typeface="Segoe UI" panose="020B0502040204020203" pitchFamily="34" charset="0"/>
                <a:cs typeface="Segoe UI" panose="020B0502040204020203" pitchFamily="34" charset="0"/>
              </a:rPr>
              <a:t>Algunas variables de control serán: Inflación, Crecimiento del PBI, Formación Fruta del Capital, Déficit Fiscal y Consumo del Gobierno.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6C2ADF24-1996-E88A-3EBB-4CFEF75C518F}"/>
                  </a:ext>
                </a:extLst>
              </p:cNvPr>
              <p:cNvSpPr txBox="1"/>
              <p:nvPr/>
            </p:nvSpPr>
            <p:spPr>
              <a:xfrm>
                <a:off x="838200" y="2729744"/>
                <a:ext cx="5772150" cy="22939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s-419" sz="2400" u="sng" noProof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Planteamos una relación cuadrática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419" sz="2400" b="0" i="1" noProof="0">
                          <a:latin typeface="Cambria Math" panose="02040503050406030204" pitchFamily="18" charset="0"/>
                        </a:rPr>
                        <m:t>𝐶𝑟𝑒𝑐𝑖𝑚𝑖𝑒𝑛𝑡𝑜</m:t>
                      </m:r>
                      <m:r>
                        <a:rPr lang="es-419" sz="2400" b="0" i="1" noProof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s-419" sz="2400" b="0" i="1" noProof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2400" b="0" i="1" noProof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419" sz="2400" b="0" i="1" noProof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419" sz="2400" b="0" i="1" noProof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419" sz="2400" b="0" i="1" noProof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2400" b="0" i="1" noProof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419" sz="2400" b="0" i="1" noProof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419" sz="2400" b="0" i="1" noProof="0">
                          <a:latin typeface="Cambria Math" panose="02040503050406030204" pitchFamily="18" charset="0"/>
                        </a:rPr>
                        <m:t>𝐷𝑒𝑢𝑑𝑎</m:t>
                      </m:r>
                      <m:r>
                        <a:rPr lang="es-419" sz="2400" b="0" i="1" noProof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419" sz="2400" b="0" i="1" noProof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2400" b="0" i="1" noProof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419" sz="2400" b="0" i="1" noProof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s-419" sz="2400" b="0" i="1" noProof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419" sz="2400" b="0" i="1" noProof="0">
                              <a:latin typeface="Cambria Math" panose="02040503050406030204" pitchFamily="18" charset="0"/>
                            </a:rPr>
                            <m:t>𝐷𝑒𝑢𝑑𝑎</m:t>
                          </m:r>
                        </m:e>
                        <m:sup>
                          <m:r>
                            <a:rPr lang="es-419" sz="2400" b="0" i="1" noProof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419" sz="2400" b="0" i="1" noProof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419" sz="2400" b="0" i="1" noProof="0">
                          <a:latin typeface="Cambria Math" panose="02040503050406030204" pitchFamily="18" charset="0"/>
                        </a:rPr>
                        <m:t>𝐶𝑜𝑛𝑡𝑟𝑜𝑙𝑒𝑠</m:t>
                      </m:r>
                    </m:oMath>
                  </m:oMathPara>
                </a14:m>
                <a:endParaRPr lang="es-419" sz="2400" noProof="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6C2ADF24-1996-E88A-3EBB-4CFEF75C51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729744"/>
                <a:ext cx="5772150" cy="229396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D6C8FC0F-FF0D-EA88-76A9-51C4DB1DE6EB}"/>
                  </a:ext>
                </a:extLst>
              </p:cNvPr>
              <p:cNvSpPr txBox="1"/>
              <p:nvPr/>
            </p:nvSpPr>
            <p:spPr>
              <a:xfrm>
                <a:off x="6434562" y="2681055"/>
                <a:ext cx="5113004" cy="27935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s-419" sz="2400" u="sng" noProof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Condiciones a testear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419" sz="2400" b="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sz="2400" b="0" i="1" noProof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s-419" sz="24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419" sz="2400" b="0" i="1" noProof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s-419" sz="2400" noProof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: La deuda impulsa el crecimiento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419" sz="2400" b="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sz="2400" b="0" i="1" noProof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s-419" sz="24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419" sz="2400" b="0" i="1" noProof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s-419" sz="2400" noProof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: La deuda no impulsa el crecimiento</a:t>
                </a:r>
              </a:p>
            </p:txBody>
          </p:sp>
        </mc:Choice>
        <mc:Fallback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D6C8FC0F-FF0D-EA88-76A9-51C4DB1DE6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4562" y="2681055"/>
                <a:ext cx="5113004" cy="2793522"/>
              </a:xfrm>
              <a:prstGeom prst="rect">
                <a:avLst/>
              </a:prstGeom>
              <a:blipFill>
                <a:blip r:embed="rId3"/>
                <a:stretch>
                  <a:fillRect b="-436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3374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84D972-E1BA-C473-271A-372EF4445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8D31E1B-0407-4223-9642-0B642CBF5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noProof="0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noProof="0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noProof="0" dirty="0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67266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2693D1A-D108-D0EA-CEF1-6EDBA9421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5052369" cy="1035781"/>
          </a:xfrm>
        </p:spPr>
        <p:txBody>
          <a:bodyPr anchor="ctr">
            <a:noAutofit/>
          </a:bodyPr>
          <a:lstStyle/>
          <a:p>
            <a:r>
              <a:rPr lang="es-419" sz="4000" noProof="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Construcción de los Datos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E96339-907C-46C3-99AC-31179B6F0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16299" y="608401"/>
            <a:ext cx="4637502" cy="55934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pic>
        <p:nvPicPr>
          <p:cNvPr id="4" name="Imagen 3" descr="Tabla&#10;&#10;El contenido generado por IA puede ser incorrecto.">
            <a:extLst>
              <a:ext uri="{FF2B5EF4-FFF2-40B4-BE49-F238E27FC236}">
                <a16:creationId xmlns:a16="http://schemas.microsoft.com/office/drawing/2014/main" id="{EA0F6AC5-33DA-0770-B5C9-CF5A373B76C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2105"/>
          <a:stretch>
            <a:fillRect/>
          </a:stretch>
        </p:blipFill>
        <p:spPr bwMode="auto">
          <a:xfrm>
            <a:off x="6923424" y="3912327"/>
            <a:ext cx="4223252" cy="1882824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9EA19AB2-6AAC-BAED-CCCE-E761829D7D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2539244"/>
              </p:ext>
            </p:extLst>
          </p:nvPr>
        </p:nvGraphicFramePr>
        <p:xfrm>
          <a:off x="640081" y="2200116"/>
          <a:ext cx="5672666" cy="40017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6" name="CuadroTexto 15">
            <a:extLst>
              <a:ext uri="{FF2B5EF4-FFF2-40B4-BE49-F238E27FC236}">
                <a16:creationId xmlns:a16="http://schemas.microsoft.com/office/drawing/2014/main" id="{7DDFCC57-5993-2AD5-8101-231BFCD746F7}"/>
              </a:ext>
            </a:extLst>
          </p:cNvPr>
          <p:cNvSpPr txBox="1"/>
          <p:nvPr/>
        </p:nvSpPr>
        <p:spPr>
          <a:xfrm>
            <a:off x="6952827" y="1828137"/>
            <a:ext cx="422325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just" defTabSz="111125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419" sz="2400" kern="1200" noProof="0" dirty="0">
                <a:latin typeface="Segoe UI" panose="020B0502040204020203" pitchFamily="34" charset="0"/>
                <a:cs typeface="Segoe UI" panose="020B0502040204020203" pitchFamily="34" charset="0"/>
              </a:rPr>
              <a:t>Descartamos la variable de deuda del Banco Mundial debido a la gran cantidad de faltantes, por eso el uso de Datos Macro. </a:t>
            </a:r>
          </a:p>
        </p:txBody>
      </p:sp>
      <p:sp>
        <p:nvSpPr>
          <p:cNvPr id="18" name="Rectángulo 17" descr="Advertencia con relleno sólido">
            <a:extLst>
              <a:ext uri="{FF2B5EF4-FFF2-40B4-BE49-F238E27FC236}">
                <a16:creationId xmlns:a16="http://schemas.microsoft.com/office/drawing/2014/main" id="{37EE6920-31DA-9C66-47B5-37404DDD5A6D}"/>
              </a:ext>
            </a:extLst>
          </p:cNvPr>
          <p:cNvSpPr/>
          <p:nvPr/>
        </p:nvSpPr>
        <p:spPr>
          <a:xfrm>
            <a:off x="8578792" y="891592"/>
            <a:ext cx="912515" cy="912515"/>
          </a:xfrm>
          <a:prstGeom prst="rect">
            <a:avLst/>
          </a:pr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s-419" noProof="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8C8109D-67DA-1D28-B5A2-3E70B050406B}"/>
              </a:ext>
            </a:extLst>
          </p:cNvPr>
          <p:cNvSpPr txBox="1"/>
          <p:nvPr/>
        </p:nvSpPr>
        <p:spPr>
          <a:xfrm>
            <a:off x="3729799" y="4285049"/>
            <a:ext cx="24229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es-419" sz="1800" noProof="0" dirty="0">
                <a:latin typeface="Segoe UI" panose="020B0502040204020203" pitchFamily="34" charset="0"/>
                <a:cs typeface="Segoe UI" panose="020B0502040204020203" pitchFamily="34" charset="0"/>
              </a:rPr>
              <a:t>Banco Mundial (WDI)</a:t>
            </a:r>
          </a:p>
          <a:p>
            <a:pPr lvl="0">
              <a:lnSpc>
                <a:spcPct val="100000"/>
              </a:lnSpc>
            </a:pPr>
            <a:r>
              <a:rPr lang="es-419" sz="1800" noProof="0" dirty="0">
                <a:latin typeface="Segoe UI" panose="020B0502040204020203" pitchFamily="34" charset="0"/>
                <a:cs typeface="Segoe UI" panose="020B0502040204020203" pitchFamily="34" charset="0"/>
              </a:rPr>
              <a:t>Datos Macro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FC3B994-213F-4548-0FF0-70674416E9EF}"/>
              </a:ext>
            </a:extLst>
          </p:cNvPr>
          <p:cNvSpPr txBox="1"/>
          <p:nvPr/>
        </p:nvSpPr>
        <p:spPr>
          <a:xfrm>
            <a:off x="806246" y="4285049"/>
            <a:ext cx="276356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es-419" sz="1800" noProof="0" dirty="0">
                <a:latin typeface="Segoe UI" panose="020B0502040204020203" pitchFamily="34" charset="0"/>
                <a:cs typeface="Segoe UI" panose="020B0502040204020203" pitchFamily="34" charset="0"/>
              </a:rPr>
              <a:t>Año 2017: </a:t>
            </a:r>
            <a:r>
              <a:rPr lang="es-419" sz="1800" noProof="0" dirty="0" err="1">
                <a:latin typeface="Segoe UI" panose="020B0502040204020203" pitchFamily="34" charset="0"/>
                <a:cs typeface="Segoe UI" panose="020B0502040204020203" pitchFamily="34" charset="0"/>
              </a:rPr>
              <a:t>Pre-pandemia</a:t>
            </a:r>
            <a:endParaRPr lang="es-419" sz="1800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lnSpc>
                <a:spcPct val="100000"/>
              </a:lnSpc>
            </a:pPr>
            <a:r>
              <a:rPr lang="es-419" sz="1800" noProof="0" dirty="0">
                <a:latin typeface="Segoe UI" panose="020B0502040204020203" pitchFamily="34" charset="0"/>
                <a:cs typeface="Segoe UI" panose="020B0502040204020203" pitchFamily="34" charset="0"/>
              </a:rPr>
              <a:t>Año 2020: Pandemia</a:t>
            </a:r>
          </a:p>
          <a:p>
            <a:pPr lvl="0">
              <a:lnSpc>
                <a:spcPct val="100000"/>
              </a:lnSpc>
            </a:pPr>
            <a:r>
              <a:rPr lang="es-419" sz="1800" noProof="0" dirty="0">
                <a:latin typeface="Segoe UI" panose="020B0502040204020203" pitchFamily="34" charset="0"/>
                <a:cs typeface="Segoe UI" panose="020B0502040204020203" pitchFamily="34" charset="0"/>
              </a:rPr>
              <a:t>Año 2023: </a:t>
            </a:r>
            <a:r>
              <a:rPr lang="es-419" sz="1800" noProof="0" dirty="0" err="1">
                <a:latin typeface="Segoe UI" panose="020B0502040204020203" pitchFamily="34" charset="0"/>
                <a:cs typeface="Segoe UI" panose="020B0502040204020203" pitchFamily="34" charset="0"/>
              </a:rPr>
              <a:t>Post-pandemia</a:t>
            </a:r>
            <a:endParaRPr lang="es-419" sz="1800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9686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39E68D4-55E6-2402-FA03-B62E50E27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s-419" sz="4000" noProof="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Limpieza e Imputación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EFE3AA9-162B-8F68-1680-10DDCD8531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533" y="2071299"/>
            <a:ext cx="4282984" cy="3969474"/>
          </a:xfrm>
        </p:spPr>
        <p:txBody>
          <a:bodyPr anchor="ctr">
            <a:normAutofit fontScale="92500" lnSpcReduction="20000"/>
          </a:bodyPr>
          <a:lstStyle/>
          <a:p>
            <a:endParaRPr lang="es-419" sz="1700" noProof="0" dirty="0"/>
          </a:p>
          <a:p>
            <a:pPr marL="0" indent="0" algn="ctr">
              <a:buNone/>
            </a:pPr>
            <a:r>
              <a:rPr lang="es-419" sz="2600" u="sng" noProof="0" dirty="0">
                <a:latin typeface="Segoe UI" panose="020B0502040204020203" pitchFamily="34" charset="0"/>
                <a:cs typeface="Segoe UI" panose="020B0502040204020203" pitchFamily="34" charset="0"/>
              </a:rPr>
              <a:t>Proceso</a:t>
            </a:r>
          </a:p>
          <a:p>
            <a:r>
              <a:rPr lang="es-419" sz="2600" noProof="0" dirty="0">
                <a:latin typeface="Segoe UI" panose="020B0502040204020203" pitchFamily="34" charset="0"/>
                <a:cs typeface="Segoe UI" panose="020B0502040204020203" pitchFamily="34" charset="0"/>
              </a:rPr>
              <a:t>Estandarización y </a:t>
            </a:r>
            <a:r>
              <a:rPr lang="es-419" sz="2600" noProof="0" dirty="0" err="1">
                <a:latin typeface="Segoe UI" panose="020B0502040204020203" pitchFamily="34" charset="0"/>
                <a:cs typeface="Segoe UI" panose="020B0502040204020203" pitchFamily="34" charset="0"/>
              </a:rPr>
              <a:t>join</a:t>
            </a:r>
            <a:r>
              <a:rPr lang="es-419" sz="2600" noProof="0" dirty="0">
                <a:latin typeface="Segoe UI" panose="020B0502040204020203" pitchFamily="34" charset="0"/>
                <a:cs typeface="Segoe UI" panose="020B0502040204020203" pitchFamily="34" charset="0"/>
              </a:rPr>
              <a:t> de ambas tablas </a:t>
            </a:r>
          </a:p>
          <a:p>
            <a:r>
              <a:rPr lang="es-419" sz="2600" noProof="0" dirty="0">
                <a:latin typeface="Segoe UI" panose="020B0502040204020203" pitchFamily="34" charset="0"/>
                <a:cs typeface="Segoe UI" panose="020B0502040204020203" pitchFamily="34" charset="0"/>
              </a:rPr>
              <a:t>Análisis exploratorio de los datos</a:t>
            </a:r>
          </a:p>
          <a:p>
            <a:r>
              <a:rPr lang="es-419" sz="2600" noProof="0" dirty="0">
                <a:latin typeface="Segoe UI" panose="020B0502040204020203" pitchFamily="34" charset="0"/>
                <a:cs typeface="Segoe UI" panose="020B0502040204020203" pitchFamily="34" charset="0"/>
              </a:rPr>
              <a:t>Información sobre </a:t>
            </a:r>
            <a:r>
              <a:rPr lang="es-419" sz="2600" noProof="0" dirty="0" err="1">
                <a:latin typeface="Segoe UI" panose="020B0502040204020203" pitchFamily="34" charset="0"/>
                <a:cs typeface="Segoe UI" panose="020B0502040204020203" pitchFamily="34" charset="0"/>
              </a:rPr>
              <a:t>boxplot</a:t>
            </a:r>
            <a:endParaRPr lang="es-419" sz="2600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s-419" sz="2600" noProof="0" dirty="0">
                <a:latin typeface="Segoe UI" panose="020B0502040204020203" pitchFamily="34" charset="0"/>
                <a:cs typeface="Segoe UI" panose="020B0502040204020203" pitchFamily="34" charset="0"/>
              </a:rPr>
              <a:t>Análisis de NA</a:t>
            </a:r>
          </a:p>
          <a:p>
            <a:r>
              <a:rPr lang="es-419" sz="2600" noProof="0" dirty="0">
                <a:latin typeface="Segoe UI" panose="020B0502040204020203" pitchFamily="34" charset="0"/>
                <a:cs typeface="Segoe UI" panose="020B0502040204020203" pitchFamily="34" charset="0"/>
              </a:rPr>
              <a:t>Imputación mediante el método de imputación múltiple (MICE)</a:t>
            </a:r>
          </a:p>
          <a:p>
            <a:endParaRPr lang="es-419" sz="2400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s-419" sz="1300" noProof="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8DDD0C5-09B2-59EC-FB5E-C6999FA9F5FC}"/>
              </a:ext>
            </a:extLst>
          </p:cNvPr>
          <p:cNvSpPr txBox="1"/>
          <p:nvPr/>
        </p:nvSpPr>
        <p:spPr>
          <a:xfrm>
            <a:off x="6095997" y="802996"/>
            <a:ext cx="547947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s-419" sz="2000" noProof="0" dirty="0">
                <a:latin typeface="Segoe UI" panose="020B0502040204020203" pitchFamily="34" charset="0"/>
                <a:cs typeface="Segoe UI" panose="020B0502040204020203" pitchFamily="34" charset="0"/>
              </a:rPr>
              <a:t>El resultado final es un panel de datos con variables clave para los años 2017, 2020 y 2023. </a:t>
            </a:r>
          </a:p>
        </p:txBody>
      </p:sp>
      <p:pic>
        <p:nvPicPr>
          <p:cNvPr id="17" name="Imagen 16" descr="Tabla&#10;&#10;El contenido generado por IA puede ser incorrecto.">
            <a:extLst>
              <a:ext uri="{FF2B5EF4-FFF2-40B4-BE49-F238E27FC236}">
                <a16:creationId xmlns:a16="http://schemas.microsoft.com/office/drawing/2014/main" id="{40A98C24-DE91-E56E-85B0-AD51665A9E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3810" y="1853147"/>
            <a:ext cx="5450937" cy="1720966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42695581-182A-2531-5D16-151DC3588A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7" y="3780979"/>
            <a:ext cx="2331260" cy="2187193"/>
          </a:xfrm>
          <a:prstGeom prst="rect">
            <a:avLst/>
          </a:prstGeom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E05EA9E4-6A93-C1D8-76F2-07F9AA200788}"/>
              </a:ext>
            </a:extLst>
          </p:cNvPr>
          <p:cNvSpPr txBox="1"/>
          <p:nvPr/>
        </p:nvSpPr>
        <p:spPr>
          <a:xfrm>
            <a:off x="8560608" y="3929199"/>
            <a:ext cx="3111987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419" sz="2000" noProof="0" dirty="0">
                <a:latin typeface="Segoe UI" panose="020B0502040204020203" pitchFamily="34" charset="0"/>
                <a:cs typeface="Segoe UI" panose="020B0502040204020203" pitchFamily="34" charset="0"/>
              </a:rPr>
              <a:t>Sin datos nulos en las columna de deuda y déficit, debido al uso de la tabla proveniente de Datos Macro.</a:t>
            </a:r>
          </a:p>
        </p:txBody>
      </p:sp>
    </p:spTree>
    <p:extLst>
      <p:ext uri="{BB962C8B-B14F-4D97-AF65-F5344CB8AC3E}">
        <p14:creationId xmlns:p14="http://schemas.microsoft.com/office/powerpoint/2010/main" val="538467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AAE94E3-A7DB-4868-B1E3-E49703488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FD4952-682C-6FB2-8924-ACE20EA04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5279408" cy="1128068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419" sz="4000" noProof="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Evaluación Impacto de la Limpieza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noProof="0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noProof="0" dirty="0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123821"/>
            <a:ext cx="4975066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2EE536D-5B62-51CD-4F2F-4EF8A0852C79}"/>
              </a:ext>
            </a:extLst>
          </p:cNvPr>
          <p:cNvSpPr txBox="1"/>
          <p:nvPr/>
        </p:nvSpPr>
        <p:spPr>
          <a:xfrm>
            <a:off x="665085" y="2290826"/>
            <a:ext cx="5278066" cy="15114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just">
              <a:lnSpc>
                <a:spcPct val="90000"/>
              </a:lnSpc>
              <a:spcAft>
                <a:spcPts val="600"/>
              </a:spcAft>
            </a:pPr>
            <a:r>
              <a:rPr lang="es-419" sz="2400" noProof="0" dirty="0">
                <a:latin typeface="Segoe UI" panose="020B0502040204020203" pitchFamily="34" charset="0"/>
                <a:cs typeface="Segoe UI" panose="020B0502040204020203" pitchFamily="34" charset="0"/>
              </a:rPr>
              <a:t>El impacto de la limpieza no es tan profunda, no hubo muchos cambios en las variables.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7447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pic>
        <p:nvPicPr>
          <p:cNvPr id="4" name="Imagen 3" descr="Captura de pantalla de un celular&#10;&#10;El contenido generado por IA puede ser incorrecto.">
            <a:extLst>
              <a:ext uri="{FF2B5EF4-FFF2-40B4-BE49-F238E27FC236}">
                <a16:creationId xmlns:a16="http://schemas.microsoft.com/office/drawing/2014/main" id="{487AA037-1C88-6483-9DCC-213959824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3423" y="983771"/>
            <a:ext cx="4397433" cy="1714998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8CB5D2D7-DF65-4E86-BFBA-FFB9B5AC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05479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pic>
        <p:nvPicPr>
          <p:cNvPr id="5" name="Imagen 4" descr="Tabla&#10;&#10;El contenido generado por IA puede ser incorrecto.">
            <a:extLst>
              <a:ext uri="{FF2B5EF4-FFF2-40B4-BE49-F238E27FC236}">
                <a16:creationId xmlns:a16="http://schemas.microsoft.com/office/drawing/2014/main" id="{1AAC83A1-7329-0F0C-810D-CDE84DECEB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3423" y="4105740"/>
            <a:ext cx="4395569" cy="1723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086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7412B8E-484B-4452-8644-AD263F593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noProof="0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noProof="0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noProof="0" dirty="0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59078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10A728C-EA3D-B79E-2E41-C6333F56F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503" y="881688"/>
            <a:ext cx="5363624" cy="1035781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419" sz="4000" noProof="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Estadística Descriptiva de la Deuda Pública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FD95D09-2666-454C-AE57-F5C7D8660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4419" y="650054"/>
            <a:ext cx="4719382" cy="55964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pic>
        <p:nvPicPr>
          <p:cNvPr id="8" name="Imagen 7" descr="Gráfico, Histograma&#10;&#10;El contenido generado por IA puede ser incorrecto.">
            <a:extLst>
              <a:ext uri="{FF2B5EF4-FFF2-40B4-BE49-F238E27FC236}">
                <a16:creationId xmlns:a16="http://schemas.microsoft.com/office/drawing/2014/main" id="{3110DA4E-8E9A-9469-2FE3-740EB1E6A6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1378" y="3442717"/>
            <a:ext cx="4342991" cy="2605792"/>
          </a:xfrm>
          <a:prstGeom prst="rect">
            <a:avLst/>
          </a:prstGeom>
        </p:spPr>
      </p:pic>
      <p:pic>
        <p:nvPicPr>
          <p:cNvPr id="6" name="Marcador de contenido 5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80630323-F648-E795-F98B-84754951C0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8450" y="779331"/>
            <a:ext cx="4111319" cy="2466789"/>
          </a:xfrm>
          <a:prstGeom prst="rect">
            <a:avLst/>
          </a:prstGeom>
        </p:spPr>
      </p:pic>
      <p:pic>
        <p:nvPicPr>
          <p:cNvPr id="12" name="Imagen 11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3BD2CA5E-C77C-B7D8-C2C8-0F7EAE87E0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535" y="3442717"/>
            <a:ext cx="4601876" cy="2761124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uadroTexto 37">
            <a:extLst>
              <a:ext uri="{FF2B5EF4-FFF2-40B4-BE49-F238E27FC236}">
                <a16:creationId xmlns:a16="http://schemas.microsoft.com/office/drawing/2014/main" id="{36FB30DA-5541-5224-270C-321D12A5EA8F}"/>
              </a:ext>
            </a:extLst>
          </p:cNvPr>
          <p:cNvSpPr txBox="1"/>
          <p:nvPr/>
        </p:nvSpPr>
        <p:spPr>
          <a:xfrm>
            <a:off x="712382" y="2186416"/>
            <a:ext cx="559078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419" noProof="0" dirty="0">
                <a:latin typeface="Segoe UI" panose="020B0502040204020203" pitchFamily="34" charset="0"/>
                <a:cs typeface="Segoe UI" panose="020B0502040204020203" pitchFamily="34" charset="0"/>
              </a:rPr>
              <a:t>Si observamos la evolución de la deuda podemos notar que durante la pandemia de COVID-19 hubo un gran cambio estructural aumentando todas las estadísticas de la deuda publica.</a:t>
            </a:r>
          </a:p>
        </p:txBody>
      </p:sp>
    </p:spTree>
    <p:extLst>
      <p:ext uri="{BB962C8B-B14F-4D97-AF65-F5344CB8AC3E}">
        <p14:creationId xmlns:p14="http://schemas.microsoft.com/office/powerpoint/2010/main" val="3573150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05B4CF-D253-6BE5-9E87-725A3664C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F53871-71FA-4889-7AEA-4A2EF1193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548BA37-47FE-CA39-163D-501F317A4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C31A6FB-76B6-099C-F64B-053FE7E843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noProof="0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584F742-0426-325E-D633-6129C8585D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noProof="0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A0A38A6-0DE5-4810-E5EC-1EE7BBACF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noProof="0" dirty="0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120EF653-4881-301D-B949-97A439ED8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59078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9FC3EA0-CC68-F4FA-F553-9571AD90F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963" y="881688"/>
            <a:ext cx="5363624" cy="1035781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419" sz="4000" noProof="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Estadística Descriptiva del Crecimiento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27BA14A-B423-0E66-4F17-2D173DC680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4419" y="650054"/>
            <a:ext cx="4719382" cy="55964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9AC3BDA-4652-4226-64CC-0E3C4B723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uadroTexto 37">
            <a:extLst>
              <a:ext uri="{FF2B5EF4-FFF2-40B4-BE49-F238E27FC236}">
                <a16:creationId xmlns:a16="http://schemas.microsoft.com/office/drawing/2014/main" id="{A54466FC-FB71-A949-AA2D-CC4FF396B1D8}"/>
              </a:ext>
            </a:extLst>
          </p:cNvPr>
          <p:cNvSpPr txBox="1"/>
          <p:nvPr/>
        </p:nvSpPr>
        <p:spPr>
          <a:xfrm>
            <a:off x="712382" y="2362086"/>
            <a:ext cx="559078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419" sz="1800" noProof="0" dirty="0">
                <a:latin typeface="Segoe UI" panose="020B0502040204020203" pitchFamily="34" charset="0"/>
                <a:cs typeface="Segoe UI" panose="020B0502040204020203" pitchFamily="34" charset="0"/>
              </a:rPr>
              <a:t>Si observamos la evolución del crecimiento podemos notar que la pandemia de COVID-19 provoco fuertes caídas sin importar nivel de ingreso del país.</a:t>
            </a:r>
          </a:p>
        </p:txBody>
      </p:sp>
      <p:pic>
        <p:nvPicPr>
          <p:cNvPr id="4" name="Imagen 3" descr="Gráfico, Gráfico en cascada&#10;&#10;El contenido generado por IA puede ser incorrecto.">
            <a:extLst>
              <a:ext uri="{FF2B5EF4-FFF2-40B4-BE49-F238E27FC236}">
                <a16:creationId xmlns:a16="http://schemas.microsoft.com/office/drawing/2014/main" id="{0E3DB967-A7B6-D8CA-CB43-E344F0A5E0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2060" y="766788"/>
            <a:ext cx="4342987" cy="2605792"/>
          </a:xfrm>
          <a:prstGeom prst="rect">
            <a:avLst/>
          </a:prstGeom>
        </p:spPr>
      </p:pic>
      <p:pic>
        <p:nvPicPr>
          <p:cNvPr id="10" name="Imagen 9" descr="Gráfico, Histograma&#10;&#10;El contenido generado por IA puede ser incorrecto.">
            <a:extLst>
              <a:ext uri="{FF2B5EF4-FFF2-40B4-BE49-F238E27FC236}">
                <a16:creationId xmlns:a16="http://schemas.microsoft.com/office/drawing/2014/main" id="{DADE610A-0DDC-14B0-63D5-108821EEFA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2616" y="3563087"/>
            <a:ext cx="4342987" cy="2605792"/>
          </a:xfrm>
          <a:prstGeom prst="rect">
            <a:avLst/>
          </a:prstGeom>
        </p:spPr>
      </p:pic>
      <p:pic>
        <p:nvPicPr>
          <p:cNvPr id="13" name="Imagen 12" descr="Gráfico, Gráfico en cascada&#10;&#10;El contenido generado por IA puede ser incorrecto.">
            <a:extLst>
              <a:ext uri="{FF2B5EF4-FFF2-40B4-BE49-F238E27FC236}">
                <a16:creationId xmlns:a16="http://schemas.microsoft.com/office/drawing/2014/main" id="{C374DA96-6AED-F50F-2ABD-A4D3D76B61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208" y="3559761"/>
            <a:ext cx="4348530" cy="2609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536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03CCF00-7592-39AE-7527-F45E9F45E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419" sz="4000" kern="1200" noProof="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Análisis de </a:t>
            </a:r>
            <a:r>
              <a:rPr lang="es-419" sz="4000" kern="1200" noProof="0" dirty="0" err="1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Outliers</a:t>
            </a:r>
            <a:endParaRPr lang="es-419" sz="4000" kern="1200" noProof="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9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>
        <p:nvSpPr>
          <p:cNvPr id="20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2FDC372-77BF-EBC2-C056-952818F8A0AB}"/>
              </a:ext>
            </a:extLst>
          </p:cNvPr>
          <p:cNvSpPr txBox="1"/>
          <p:nvPr/>
        </p:nvSpPr>
        <p:spPr>
          <a:xfrm>
            <a:off x="737407" y="2389218"/>
            <a:ext cx="4530898" cy="38725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419" sz="2000" noProof="0" dirty="0">
                <a:latin typeface="Segoe UI" panose="020B0502040204020203" pitchFamily="34" charset="0"/>
                <a:cs typeface="Segoe UI" panose="020B0502040204020203" pitchFamily="34" charset="0"/>
              </a:rPr>
              <a:t>No se eliminaran los </a:t>
            </a:r>
            <a:r>
              <a:rPr lang="es-419" sz="2000" noProof="0" dirty="0" err="1">
                <a:latin typeface="Segoe UI" panose="020B0502040204020203" pitchFamily="34" charset="0"/>
                <a:cs typeface="Segoe UI" panose="020B0502040204020203" pitchFamily="34" charset="0"/>
              </a:rPr>
              <a:t>outliers</a:t>
            </a:r>
            <a:r>
              <a:rPr lang="es-419" sz="2000" noProof="0" dirty="0">
                <a:latin typeface="Segoe UI" panose="020B0502040204020203" pitchFamily="34" charset="0"/>
                <a:cs typeface="Segoe UI" panose="020B0502040204020203" pitchFamily="34" charset="0"/>
              </a:rPr>
              <a:t>. Los datos reflejan diferencias estructurales entre distintas economías mundiales. Eliminar países importantes a nivel mundial (Japón, Argentina o Grecia) sesgaría la muestra.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419" sz="2000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419" sz="2000" noProof="0" dirty="0">
                <a:latin typeface="Segoe UI" panose="020B0502040204020203" pitchFamily="34" charset="0"/>
                <a:cs typeface="Segoe UI" panose="020B0502040204020203" pitchFamily="34" charset="0"/>
              </a:rPr>
              <a:t>No solo eso, el principal objetivo del trabajo es demostrar que la deuda tiene una forma no lineal. Agregar niveles de deuda demasiado altos y bajos es imprescindible para lograr este objetivo.</a:t>
            </a:r>
          </a:p>
        </p:txBody>
      </p:sp>
      <p:pic>
        <p:nvPicPr>
          <p:cNvPr id="4" name="Imagen 3" descr="Gráfico, Gráfico de cajas y bigotes&#10;&#10;El contenido generado por IA puede ser incorrecto.">
            <a:extLst>
              <a:ext uri="{FF2B5EF4-FFF2-40B4-BE49-F238E27FC236}">
                <a16:creationId xmlns:a16="http://schemas.microsoft.com/office/drawing/2014/main" id="{2981135A-DF9F-2399-0750-3B2C772B89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933" y="2699099"/>
            <a:ext cx="5478252" cy="3286950"/>
          </a:xfrm>
          <a:prstGeom prst="rect">
            <a:avLst/>
          </a:prstGeom>
        </p:spPr>
      </p:pic>
      <p:sp>
        <p:nvSpPr>
          <p:cNvPr id="21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</p:spTree>
    <p:extLst>
      <p:ext uri="{BB962C8B-B14F-4D97-AF65-F5344CB8AC3E}">
        <p14:creationId xmlns:p14="http://schemas.microsoft.com/office/powerpoint/2010/main" val="37257396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F244420-319F-7250-B6CD-DF0E87C0A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419" sz="4000" kern="1200" noProof="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Visualización de la Hipótesis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47CD18F-948C-3C01-4271-3959BFA22F43}"/>
              </a:ext>
            </a:extLst>
          </p:cNvPr>
          <p:cNvSpPr txBox="1"/>
          <p:nvPr/>
        </p:nvSpPr>
        <p:spPr>
          <a:xfrm>
            <a:off x="635676" y="2347038"/>
            <a:ext cx="4530898" cy="39273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285750" indent="-28575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419" sz="2000" noProof="0" dirty="0">
                <a:latin typeface="Segoe UI" panose="020B0502040204020203" pitchFamily="34" charset="0"/>
                <a:cs typeface="Segoe UI" panose="020B0502040204020203" pitchFamily="34" charset="0"/>
              </a:rPr>
              <a:t>Se puede observar un comportamiento en U invertido, menos en el año 2020. El shock pandémico desplazo la nube de puntos hacia arriba independientemente del nivel de deuda, haciendo que la relación sea en U.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419" sz="2000" noProof="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419" sz="2000" noProof="0" dirty="0">
                <a:latin typeface="Segoe UI" panose="020B0502040204020203" pitchFamily="34" charset="0"/>
                <a:cs typeface="Segoe UI" panose="020B0502040204020203" pitchFamily="34" charset="0"/>
              </a:rPr>
              <a:t>La línea negra representa el ajuste cuadrático del modelo. Se busca identificar el punto donde la deuda deja de impulsar el crecimiento y comienza a frenarlo.</a:t>
            </a:r>
          </a:p>
        </p:txBody>
      </p:sp>
      <p:pic>
        <p:nvPicPr>
          <p:cNvPr id="4" name="Imagen 3" descr="Gráfico, Gráfico de dispersión&#10;&#10;El contenido generado por IA puede ser incorrecto.">
            <a:extLst>
              <a:ext uri="{FF2B5EF4-FFF2-40B4-BE49-F238E27FC236}">
                <a16:creationId xmlns:a16="http://schemas.microsoft.com/office/drawing/2014/main" id="{0B1BB1C1-DCFA-4881-6141-1A1EF090A8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7529" y="2694760"/>
            <a:ext cx="5478252" cy="328695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</p:spTree>
    <p:extLst>
      <p:ext uri="{BB962C8B-B14F-4D97-AF65-F5344CB8AC3E}">
        <p14:creationId xmlns:p14="http://schemas.microsoft.com/office/powerpoint/2010/main" val="3031156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022CA72-2A63-428F-B586-37BA5AB6D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683A1A1-BF06-CC19-87E5-390BA1469087}"/>
              </a:ext>
            </a:extLst>
          </p:cNvPr>
          <p:cNvSpPr txBox="1"/>
          <p:nvPr/>
        </p:nvSpPr>
        <p:spPr>
          <a:xfrm>
            <a:off x="532015" y="4495568"/>
            <a:ext cx="3861960" cy="19052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419" sz="4400" u="sng" noProof="0" dirty="0"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rPr>
              <a:t>Modelo Regresión General</a:t>
            </a:r>
            <a:endParaRPr lang="es-419" sz="4400" noProof="0" dirty="0">
              <a:latin typeface="Segoe UI Semibold" panose="020B0702040204020203" pitchFamily="34" charset="0"/>
              <a:ea typeface="+mj-ea"/>
              <a:cs typeface="Segoe UI Semibold" panose="020B0702040204020203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89" y="-1"/>
            <a:ext cx="11231745" cy="41314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pic>
        <p:nvPicPr>
          <p:cNvPr id="10" name="Imagen 9" descr="Tabla&#10;&#10;El contenido generado por IA puede ser incorrecto.">
            <a:extLst>
              <a:ext uri="{FF2B5EF4-FFF2-40B4-BE49-F238E27FC236}">
                <a16:creationId xmlns:a16="http://schemas.microsoft.com/office/drawing/2014/main" id="{53338044-4C26-B151-244A-F684924AF8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4" t="1684" r="13193" b="38003"/>
          <a:stretch>
            <a:fillRect/>
          </a:stretch>
        </p:blipFill>
        <p:spPr>
          <a:xfrm>
            <a:off x="1485429" y="639512"/>
            <a:ext cx="4108571" cy="2924756"/>
          </a:xfrm>
          <a:prstGeom prst="rect">
            <a:avLst/>
          </a:prstGeom>
        </p:spPr>
      </p:pic>
      <p:pic>
        <p:nvPicPr>
          <p:cNvPr id="9" name="Imagen 8" descr="Tabla&#10;&#10;El contenido generado por IA puede ser incorrecto.">
            <a:extLst>
              <a:ext uri="{FF2B5EF4-FFF2-40B4-BE49-F238E27FC236}">
                <a16:creationId xmlns:a16="http://schemas.microsoft.com/office/drawing/2014/main" id="{7A574C34-9218-8D5C-3F2F-2ABFBE1C17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75" t="1423"/>
          <a:stretch>
            <a:fillRect/>
          </a:stretch>
        </p:blipFill>
        <p:spPr>
          <a:xfrm>
            <a:off x="6598001" y="289711"/>
            <a:ext cx="4012659" cy="3622784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3837444" y="5460209"/>
            <a:ext cx="1790365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234C348-99F1-5442-5937-74335EC75F1D}"/>
              </a:ext>
            </a:extLst>
          </p:cNvPr>
          <p:cNvSpPr txBox="1"/>
          <p:nvPr/>
        </p:nvSpPr>
        <p:spPr>
          <a:xfrm>
            <a:off x="5162719" y="4495568"/>
            <a:ext cx="6586915" cy="19052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just">
              <a:lnSpc>
                <a:spcPct val="90000"/>
              </a:lnSpc>
              <a:spcAft>
                <a:spcPts val="600"/>
              </a:spcAft>
            </a:pPr>
            <a:r>
              <a:rPr lang="es-419" sz="2800" noProof="0" dirty="0">
                <a:latin typeface="Segoe UI" panose="020B0502040204020203" pitchFamily="34" charset="0"/>
                <a:cs typeface="Segoe UI" panose="020B0502040204020203" pitchFamily="34" charset="0"/>
              </a:rPr>
              <a:t>Para una regresión general, la deuda y la deuda al cuadrado no resulta ser significativa para explicar al crecimiento. </a:t>
            </a:r>
          </a:p>
        </p:txBody>
      </p:sp>
    </p:spTree>
    <p:extLst>
      <p:ext uri="{BB962C8B-B14F-4D97-AF65-F5344CB8AC3E}">
        <p14:creationId xmlns:p14="http://schemas.microsoft.com/office/powerpoint/2010/main" val="32551408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10E41E-B325-9B43-D188-0ABB30CE0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37A1E2C-4DE5-CD7F-14FA-B4358C550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EB4B5F4-BC46-1089-50B9-80F5A178CB19}"/>
              </a:ext>
            </a:extLst>
          </p:cNvPr>
          <p:cNvSpPr txBox="1"/>
          <p:nvPr/>
        </p:nvSpPr>
        <p:spPr>
          <a:xfrm>
            <a:off x="532015" y="4495568"/>
            <a:ext cx="3861960" cy="19052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defPPr>
              <a:defRPr lang="es-AR"/>
            </a:defPPr>
            <a:lvl1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400" u="sng"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defRPr>
            </a:lvl1pPr>
          </a:lstStyle>
          <a:p>
            <a:r>
              <a:rPr lang="es-419" dirty="0"/>
              <a:t>Modelo Regresión para Ingreso Alto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CD3D161-0F55-A6B0-5E7E-82A804E1B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FA3AE88-4995-5ED4-7A64-00638C755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89" y="-1"/>
            <a:ext cx="11231745" cy="41314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74BFA113-5CF1-0C85-22DE-2D2B423067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79" t="684" r="12497" b="36357"/>
          <a:stretch>
            <a:fillRect/>
          </a:stretch>
        </p:blipFill>
        <p:spPr>
          <a:xfrm>
            <a:off x="1309539" y="457200"/>
            <a:ext cx="4672149" cy="336562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C78D5E1-3BD5-3F48-5813-0578A2A6C4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9" t="1776" b="22845"/>
          <a:stretch>
            <a:fillRect/>
          </a:stretch>
        </p:blipFill>
        <p:spPr>
          <a:xfrm>
            <a:off x="5981688" y="316240"/>
            <a:ext cx="5239004" cy="3506585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952B5CA7-C290-D74A-0F77-27CBF4C6E1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3837444" y="5460209"/>
            <a:ext cx="1790365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6CAB5E4-8D5F-92FE-7823-D7F793501A25}"/>
              </a:ext>
            </a:extLst>
          </p:cNvPr>
          <p:cNvSpPr txBox="1"/>
          <p:nvPr/>
        </p:nvSpPr>
        <p:spPr>
          <a:xfrm>
            <a:off x="5162719" y="4495568"/>
            <a:ext cx="6586915" cy="19052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just"/>
            <a:r>
              <a:rPr lang="es-419" noProof="0" dirty="0"/>
              <a:t>Para una regresión donde solo se contempla a los países de ingreso alto, la deuda y la deuda al cuadrado no resulta ser significativa para explicar al crecimiento. </a:t>
            </a:r>
          </a:p>
        </p:txBody>
      </p:sp>
    </p:spTree>
    <p:extLst>
      <p:ext uri="{BB962C8B-B14F-4D97-AF65-F5344CB8AC3E}">
        <p14:creationId xmlns:p14="http://schemas.microsoft.com/office/powerpoint/2010/main" val="895628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786863-8031-4A70-1EF6-5ABBD5FE1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EF9CE1F-C88E-BAB0-469E-64C91228D1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1289F0F-C3EF-DE25-83A4-5EA96AC754EC}"/>
              </a:ext>
            </a:extLst>
          </p:cNvPr>
          <p:cNvSpPr txBox="1"/>
          <p:nvPr/>
        </p:nvSpPr>
        <p:spPr>
          <a:xfrm>
            <a:off x="532015" y="4495568"/>
            <a:ext cx="3861960" cy="19052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defPPr>
              <a:defRPr lang="es-AR"/>
            </a:defPPr>
            <a:lvl1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400" u="sng"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defRPr>
            </a:lvl1pPr>
          </a:lstStyle>
          <a:p>
            <a:r>
              <a:rPr lang="es-419" dirty="0"/>
              <a:t>Modelo Regresión para Ingreso Medio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21FA787-D24E-D7D6-436E-A00A7B6C31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207EDAA-2411-6379-D4FD-1F10932CA0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89" y="-1"/>
            <a:ext cx="11231745" cy="41314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C663693B-6F47-52B9-DAB5-27D93C7043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33" t="988" r="13047" b="29120"/>
          <a:stretch>
            <a:fillRect/>
          </a:stretch>
        </p:blipFill>
        <p:spPr>
          <a:xfrm>
            <a:off x="1448381" y="715758"/>
            <a:ext cx="3714338" cy="302612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DCB88F9-E7E4-8EFF-3010-D8D9A63D7A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7" t="1579" r="4092" b="24139"/>
          <a:stretch>
            <a:fillRect/>
          </a:stretch>
        </p:blipFill>
        <p:spPr>
          <a:xfrm>
            <a:off x="6093211" y="300170"/>
            <a:ext cx="4857702" cy="3528879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27876B5-9CEA-A849-18B4-16D6AC368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3837444" y="5460209"/>
            <a:ext cx="1790365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4DB1BEC-5AD0-0473-A095-CD7A451ABD3E}"/>
              </a:ext>
            </a:extLst>
          </p:cNvPr>
          <p:cNvSpPr txBox="1"/>
          <p:nvPr/>
        </p:nvSpPr>
        <p:spPr>
          <a:xfrm>
            <a:off x="5162719" y="4495568"/>
            <a:ext cx="6586915" cy="19052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defPPr>
              <a:defRPr lang="es-AR"/>
            </a:defPPr>
            <a:lvl1pPr algn="just">
              <a:lnSpc>
                <a:spcPct val="90000"/>
              </a:lnSpc>
              <a:spcAft>
                <a:spcPts val="600"/>
              </a:spcAft>
              <a:defRPr sz="28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s-419" dirty="0"/>
              <a:t>Para una regresión donde solo se contempla a los países de ingreso medio, la deuda no es significativa. En cambio, la deuda al cuadrado resulta ser significativa para un nivel de confianza del 95%.</a:t>
            </a:r>
          </a:p>
        </p:txBody>
      </p:sp>
    </p:spTree>
    <p:extLst>
      <p:ext uri="{BB962C8B-B14F-4D97-AF65-F5344CB8AC3E}">
        <p14:creationId xmlns:p14="http://schemas.microsoft.com/office/powerpoint/2010/main" val="35814288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AA4452-C615-2C9F-CC43-FA4DF1F4B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2F94EC0-1261-35F0-6C01-9ABE9AD59A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87E86F8-53BE-26E8-D4E5-0FBAC2B85421}"/>
              </a:ext>
            </a:extLst>
          </p:cNvPr>
          <p:cNvSpPr txBox="1"/>
          <p:nvPr/>
        </p:nvSpPr>
        <p:spPr>
          <a:xfrm>
            <a:off x="532015" y="4495568"/>
            <a:ext cx="3861960" cy="19052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defPPr>
              <a:defRPr lang="es-AR"/>
            </a:defPPr>
            <a:lvl1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400" u="sng"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defRPr>
            </a:lvl1pPr>
          </a:lstStyle>
          <a:p>
            <a:r>
              <a:rPr lang="es-419" dirty="0"/>
              <a:t>Modelo Regresión para Ingreso Medio Bajo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302611C-3BB7-E5BB-F012-9BF4267BF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358BEF1-CC02-D5CA-00D5-E406960D44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89" y="-1"/>
            <a:ext cx="11231745" cy="41314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4DD3DF11-F4B7-D5F0-C8BC-C0A221069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82" t="980" r="12836" b="31460"/>
          <a:stretch>
            <a:fillRect/>
          </a:stretch>
        </p:blipFill>
        <p:spPr>
          <a:xfrm>
            <a:off x="1504490" y="620265"/>
            <a:ext cx="3414530" cy="288064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5DF22BF-4341-9BB5-A30F-580EC03267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50" t="1268" r="8122" b="24367"/>
          <a:stretch>
            <a:fillRect/>
          </a:stretch>
        </p:blipFill>
        <p:spPr>
          <a:xfrm>
            <a:off x="5905621" y="333336"/>
            <a:ext cx="4496809" cy="3454502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C6F330C2-C8A4-0419-0B7D-1885FFD4D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3837444" y="5460209"/>
            <a:ext cx="1790365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9F17E7D-2CD9-D119-CE8D-A0127209856D}"/>
              </a:ext>
            </a:extLst>
          </p:cNvPr>
          <p:cNvSpPr txBox="1"/>
          <p:nvPr/>
        </p:nvSpPr>
        <p:spPr>
          <a:xfrm>
            <a:off x="5162719" y="4495568"/>
            <a:ext cx="6586915" cy="19052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es-AR"/>
            </a:defPPr>
            <a:lvl1pPr algn="just">
              <a:lnSpc>
                <a:spcPct val="90000"/>
              </a:lnSpc>
              <a:spcAft>
                <a:spcPts val="600"/>
              </a:spcAft>
              <a:defRPr sz="28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s-419" dirty="0"/>
              <a:t>Para una regresión donde solo se contempla a los países de ingreso medio bajo, la deuda y la deuda al cuadrado no son significativas para explicar al crecimiento. </a:t>
            </a:r>
          </a:p>
        </p:txBody>
      </p:sp>
    </p:spTree>
    <p:extLst>
      <p:ext uri="{BB962C8B-B14F-4D97-AF65-F5344CB8AC3E}">
        <p14:creationId xmlns:p14="http://schemas.microsoft.com/office/powerpoint/2010/main" val="7317946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C36B82-9DF2-DD2D-324B-F8C8E6ABE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3FA5417-E51E-DF61-2AEB-90962B7201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52E1D9A-406F-BF71-A987-B67A214B773D}"/>
              </a:ext>
            </a:extLst>
          </p:cNvPr>
          <p:cNvSpPr txBox="1"/>
          <p:nvPr/>
        </p:nvSpPr>
        <p:spPr>
          <a:xfrm>
            <a:off x="532015" y="4495568"/>
            <a:ext cx="3861960" cy="19052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defPPr>
              <a:defRPr lang="es-AR"/>
            </a:defPPr>
            <a:lvl1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400" u="sng"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defRPr>
            </a:lvl1pPr>
          </a:lstStyle>
          <a:p>
            <a:r>
              <a:rPr lang="es-419" dirty="0"/>
              <a:t>Modelo Regresión para Ingreso Bajo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420FBFF-E91E-3BA0-F1C0-B03357B22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0BA80ED-3F67-8354-2BBE-E8A760FA4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89" y="-1"/>
            <a:ext cx="11231745" cy="41314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B1BF5B2D-EE1B-4142-2671-8B2255E223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19" t="1634" r="13345" b="36198"/>
          <a:stretch>
            <a:fillRect/>
          </a:stretch>
        </p:blipFill>
        <p:spPr>
          <a:xfrm>
            <a:off x="1626960" y="661531"/>
            <a:ext cx="3886600" cy="280836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AC39D2A-395C-7AE3-0ADE-D350A3050B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79" t="1615" r="8054" b="24935"/>
          <a:stretch>
            <a:fillRect/>
          </a:stretch>
        </p:blipFill>
        <p:spPr>
          <a:xfrm>
            <a:off x="6096000" y="389299"/>
            <a:ext cx="4469040" cy="3337946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1F0EFFCE-E8A0-8D53-BD49-8C729DED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3837444" y="5460209"/>
            <a:ext cx="1790365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F5C241F-7842-1F2C-A5C5-9FEA0393176F}"/>
              </a:ext>
            </a:extLst>
          </p:cNvPr>
          <p:cNvSpPr txBox="1"/>
          <p:nvPr/>
        </p:nvSpPr>
        <p:spPr>
          <a:xfrm>
            <a:off x="5162719" y="4495568"/>
            <a:ext cx="6586915" cy="19052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es-AR"/>
            </a:defPPr>
            <a:lvl1pPr algn="just">
              <a:lnSpc>
                <a:spcPct val="90000"/>
              </a:lnSpc>
              <a:spcAft>
                <a:spcPts val="600"/>
              </a:spcAft>
              <a:defRPr sz="28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s-419" dirty="0"/>
              <a:t>Para una regresión donde solo se contempla a los países de ingreso bajo, la deuda y la deuda al cuadrado no son significativas para explicar al crecimiento. </a:t>
            </a:r>
          </a:p>
        </p:txBody>
      </p:sp>
    </p:spTree>
    <p:extLst>
      <p:ext uri="{BB962C8B-B14F-4D97-AF65-F5344CB8AC3E}">
        <p14:creationId xmlns:p14="http://schemas.microsoft.com/office/powerpoint/2010/main" val="37240438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08DD265-E831-D729-539D-3F1E3BD9B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s-419" sz="4000" noProof="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Conclusión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noProof="0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noProof="0" dirty="0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F818E02-3264-DAE2-958A-C6755A554C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317687"/>
            <a:ext cx="10143668" cy="3717353"/>
          </a:xfrm>
        </p:spPr>
        <p:txBody>
          <a:bodyPr anchor="ctr">
            <a:normAutofit/>
          </a:bodyPr>
          <a:lstStyle/>
          <a:p>
            <a:pPr algn="just"/>
            <a:r>
              <a:rPr lang="es-419" sz="2200" b="1" noProof="0" dirty="0">
                <a:latin typeface="Segoe UI" panose="020B0502040204020203" pitchFamily="34" charset="0"/>
                <a:cs typeface="Segoe UI" panose="020B0502040204020203" pitchFamily="34" charset="0"/>
              </a:rPr>
              <a:t>Rechazo de la Hipótesis Global:</a:t>
            </a:r>
            <a:r>
              <a:rPr lang="es-419" sz="2200" noProof="0" dirty="0">
                <a:latin typeface="Segoe UI" panose="020B0502040204020203" pitchFamily="34" charset="0"/>
                <a:cs typeface="Segoe UI" panose="020B0502040204020203" pitchFamily="34" charset="0"/>
              </a:rPr>
              <a:t> A nivel agregado (todos los países independientemente de su ingreso) no existe evidencia estadística suficiente para afirmar que la deuda impacte en el crecimiento. </a:t>
            </a:r>
          </a:p>
          <a:p>
            <a:pPr algn="just"/>
            <a:r>
              <a:rPr lang="es-419" sz="2200" b="1" noProof="0" dirty="0">
                <a:latin typeface="Segoe UI" panose="020B0502040204020203" pitchFamily="34" charset="0"/>
                <a:cs typeface="Segoe UI" panose="020B0502040204020203" pitchFamily="34" charset="0"/>
              </a:rPr>
              <a:t>Comportamiento Asimétrico por Ingreso: </a:t>
            </a:r>
            <a:r>
              <a:rPr lang="es-419" sz="2200" noProof="0" dirty="0">
                <a:latin typeface="Segoe UI" panose="020B0502040204020203" pitchFamily="34" charset="0"/>
                <a:cs typeface="Segoe UI" panose="020B0502040204020203" pitchFamily="34" charset="0"/>
              </a:rPr>
              <a:t>En ingresos altos predomina el efecto negativo, a mayor deuda menor crecimiento. En cambio, en ingresos medios se valida parcialmente un efecto  positivo. Por ultimo, en economías con ingresos bajos y medios-bajos la deuda no explica el crecimiento.</a:t>
            </a:r>
          </a:p>
          <a:p>
            <a:pPr algn="just"/>
            <a:r>
              <a:rPr lang="es-419" sz="2200" b="1" noProof="0" dirty="0">
                <a:latin typeface="Segoe UI" panose="020B0502040204020203" pitchFamily="34" charset="0"/>
                <a:cs typeface="Segoe UI" panose="020B0502040204020203" pitchFamily="34" charset="0"/>
              </a:rPr>
              <a:t>Por lo tanto, no hay evidencias para afirmar que la hipótesis de no-linealidad se cumpla de manera general.</a:t>
            </a:r>
          </a:p>
        </p:txBody>
      </p:sp>
    </p:spTree>
    <p:extLst>
      <p:ext uri="{BB962C8B-B14F-4D97-AF65-F5344CB8AC3E}">
        <p14:creationId xmlns:p14="http://schemas.microsoft.com/office/powerpoint/2010/main" val="39625416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noProof="0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noProof="0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noProof="0" dirty="0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0E9E6AB-FB41-8560-4E25-1FDB84F0B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419" sz="4000" kern="1200" noProof="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¡Muchas Gracias!</a:t>
            </a:r>
            <a:br>
              <a:rPr lang="es-419" sz="4000" kern="1200" noProof="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endParaRPr lang="es-419" sz="4000" kern="1200" noProof="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82FD1EC-663F-E12F-79E7-3DDACE11314D}"/>
              </a:ext>
            </a:extLst>
          </p:cNvPr>
          <p:cNvSpPr txBox="1"/>
          <p:nvPr/>
        </p:nvSpPr>
        <p:spPr>
          <a:xfrm>
            <a:off x="1045028" y="3017522"/>
            <a:ext cx="9941319" cy="3124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419" sz="2800" noProof="0" dirty="0"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https://github.com/PabloViera22/proyecto_tp_grupal</a:t>
            </a:r>
            <a:endParaRPr lang="es-419" sz="2800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419" sz="2400" noProof="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477755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Azul cálido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</TotalTime>
  <Words>799</Words>
  <Application>Microsoft Office PowerPoint</Application>
  <PresentationFormat>Panorámica</PresentationFormat>
  <Paragraphs>67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4" baseType="lpstr">
      <vt:lpstr>Aptos</vt:lpstr>
      <vt:lpstr>Aptos Display</vt:lpstr>
      <vt:lpstr>Arial</vt:lpstr>
      <vt:lpstr>Cambria Math</vt:lpstr>
      <vt:lpstr>Segoe UI</vt:lpstr>
      <vt:lpstr>Segoe UI Semibold</vt:lpstr>
      <vt:lpstr>Tema de Office</vt:lpstr>
      <vt:lpstr>Deuda Pública y Crecimiento Económico (2017-2023)</vt:lpstr>
      <vt:lpstr>¿La deuda siempre es mala para el crecimiento?</vt:lpstr>
      <vt:lpstr>Hipótesis</vt:lpstr>
      <vt:lpstr>Construcción de los Datos</vt:lpstr>
      <vt:lpstr>Limpieza e Imputación</vt:lpstr>
      <vt:lpstr>Evaluación Impacto de la Limpieza</vt:lpstr>
      <vt:lpstr>Estadística Descriptiva de la Deuda Pública</vt:lpstr>
      <vt:lpstr>Estadística Descriptiva del Crecimiento</vt:lpstr>
      <vt:lpstr>Análisis de Outliers</vt:lpstr>
      <vt:lpstr>Visualización de la Hipótesis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Conclusión</vt:lpstr>
      <vt:lpstr>¡Muchas Gracias!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Geronimo Felipe Silva</dc:creator>
  <cp:lastModifiedBy>Geronimo Felipe Silva</cp:lastModifiedBy>
  <cp:revision>48</cp:revision>
  <dcterms:created xsi:type="dcterms:W3CDTF">2025-12-01T22:16:47Z</dcterms:created>
  <dcterms:modified xsi:type="dcterms:W3CDTF">2025-12-02T23:35:27Z</dcterms:modified>
</cp:coreProperties>
</file>